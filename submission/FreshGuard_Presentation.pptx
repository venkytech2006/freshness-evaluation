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8" r:id="rId3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66" r:id="rId4"/>
    <p:sldId id="285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2E5C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B5B5D07-00AA-494B-840D-E9809FF4C4FD}" v="82" dt="2025-08-28T14:17:01.74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microsoft.com/office/2015/10/relationships/revisionInfo" Target="revisionInfo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3253CB-09B8-40CA-A423-1F16116BB963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8016FF-DD62-4339-958E-2E587ABE14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2199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8016FF-DD62-4339-958E-2E587ABE146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09800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01EF2-8C8D-78BB-E138-627C0164E4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BE137A-826E-51EE-7F83-659F0C73F4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DED2E3-0160-A14D-196B-48C7A410F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02/05/2026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75C468-6B81-59B7-E4AF-F243017A2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BDFF70-4AC8-BC09-028E-52C4AC1C4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9DDE7-DF24-421B-8B5A-9F7A222497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539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80BF9-CE2F-27EE-45B3-83C15B55E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10D8DE-D23A-2743-129B-0C9DABE7C5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456D65-7E39-D890-1D6C-F13ED3CD7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02/05/2026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D5724B-31D1-182E-FF79-4065775194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A9AEBC-ABF6-507B-44E1-699EC18AA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9DDE7-DF24-421B-8B5A-9F7A222497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5884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DAD95-146C-05FE-4251-8831DF663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8B9F32-F259-7D8C-1BA9-F41BE9A1E8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2B79FE-1E00-659F-7ED8-34F19CCCF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02/05/2026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37C2B5-199C-8087-3D5F-338CFCCD9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099207-F8A8-04CC-78FF-60A26E4CE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9DDE7-DF24-421B-8B5A-9F7A222497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7972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3E8C8-8D3D-ACEA-B867-A22C1589C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55BCC7-AC46-A8E5-71EB-96E399C792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8BAF31-C5AD-FCCF-4F55-1BBFF154F9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2EF56F-E683-099E-D9FC-CFD47D737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02/05/2026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4599AB-4809-E851-9B67-ECAB8ADDB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4630DA-BE55-BF31-40AD-DDCC865E5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9DDE7-DF24-421B-8B5A-9F7A222497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4717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6A9CE-784E-4180-E8BE-C03B81F95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122279-09AA-9CF0-4BBC-729E43057A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4927B1-1A23-EAE2-F82E-47B4B883B0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2EAF30-42FB-1D79-65DB-57142CD172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5CA3DB-772D-7ED2-C578-3EC3076F84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82514D-35C7-8244-9E9E-BDF6DE536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02/05/2026 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D5056D-8D07-E614-FAF9-F4A89F3F0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ED0DBF-0A43-EA09-7ADC-FBCAFD0F2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9DDE7-DF24-421B-8B5A-9F7A222497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4105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90AAA-199F-8167-4839-0088D47C2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5076C3-01E7-BC98-2569-ABC12DF55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02/05/2026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A5C32E-A1BA-308B-2FE7-653161809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90D3CF-653C-5938-6CB7-9C3BA947B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9DDE7-DF24-421B-8B5A-9F7A222497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930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9663EB-5CFA-1A60-D6EA-5566841AC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02/05/2026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3BA782-74A4-9C42-4E46-F4044C4D9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CA02C9-315F-43FF-625B-413CDCBF0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9DDE7-DF24-421B-8B5A-9F7A222497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505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7A04A-6997-6DFB-904B-48CAD2EAE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B02B9D-EC7D-AEC3-ED06-6CE8D8B0F2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39FE14-FF67-27E4-8334-72C7E3E482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2E88D0-198F-8842-87A0-2F3E984AD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02/05/2026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C36969-267D-2D25-5024-FA3991259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4EFF8C-2D2B-3405-1F3D-03510F5B4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9DDE7-DF24-421B-8B5A-9F7A222497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622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6ABFC-C342-0246-29C0-95E009490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B2EA03-F82B-CD2C-BA2E-66CEA23961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5001FB-D076-993F-2DB0-0EF35DAFED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7C6E3D-66F3-15E8-D7E7-C21063339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02/05/2026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3C4EAE-B09F-40FD-2EFA-EC602729E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24E427-69C5-8DF6-11B2-3519C929F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9DDE7-DF24-421B-8B5A-9F7A222497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0627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E5F6C-08DC-BC9D-CE1B-6DD8BEBCC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F4BB64-1FC3-8EF6-616F-F358669567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9B80E2-1BD2-CADA-8263-CC3666002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02/05/2026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087975-1ACD-C498-EC32-E287092B8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409F23-807D-F7B1-59E5-C55EFEA84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9DDE7-DF24-421B-8B5A-9F7A222497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3747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34B9D6-E5F4-B75C-6EC1-156525320F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0D9455-0092-A366-F786-A3D11288D3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3AD1A1-DE8E-CC0A-342E-D84C71CFB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02/05/2026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F51EEB-1A97-0FA2-1CB9-7878BFDF1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3B792E-4B68-C5DE-A2ED-F0555EE1F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9DDE7-DF24-421B-8B5A-9F7A222497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03699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6916B8-54CB-8C0F-3FC6-23BA30944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B8969F-4EBB-4D0A-8086-6ECC31318A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7F1603-12F9-FE6F-0DDD-E9F00CA209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02/05/2026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6B006A-4311-7855-7A42-6BC26A436A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3DAD4-E3C6-D3E9-0894-F3ED84F03B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A9DDE7-DF24-421B-8B5A-9F7A222497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267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045F56C-56B1-1AD9-8EEB-7A618ACA3618}"/>
              </a:ext>
            </a:extLst>
          </p:cNvPr>
          <p:cNvSpPr/>
          <p:nvPr/>
        </p:nvSpPr>
        <p:spPr>
          <a:xfrm>
            <a:off x="-9831" y="0"/>
            <a:ext cx="274320" cy="6876288"/>
          </a:xfrm>
          <a:prstGeom prst="rect">
            <a:avLst/>
          </a:prstGeom>
          <a:solidFill>
            <a:srgbClr val="1D2E5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64A4B94-0AEC-CAF8-2CA8-FA5281832D77}"/>
              </a:ext>
            </a:extLst>
          </p:cNvPr>
          <p:cNvSpPr/>
          <p:nvPr/>
        </p:nvSpPr>
        <p:spPr>
          <a:xfrm rot="5400000">
            <a:off x="4945479" y="-4972257"/>
            <a:ext cx="274320" cy="10186749"/>
          </a:xfrm>
          <a:prstGeom prst="rect">
            <a:avLst/>
          </a:prstGeom>
          <a:solidFill>
            <a:srgbClr val="1D2E5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Anurag University Admission 2024 - 2025, Fees, Courses, Placements, Cutoff,  Ranking">
            <a:extLst>
              <a:ext uri="{FF2B5EF4-FFF2-40B4-BE49-F238E27FC236}">
                <a16:creationId xmlns:a16="http://schemas.microsoft.com/office/drawing/2014/main" id="{BE25E134-3879-905D-F8E3-071DF2C181B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702"/>
          <a:stretch>
            <a:fillRect/>
          </a:stretch>
        </p:blipFill>
        <p:spPr bwMode="auto">
          <a:xfrm>
            <a:off x="10899312" y="27235"/>
            <a:ext cx="1194366" cy="1337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54B7778-F74C-FF6C-1107-E2CCF24A8117}"/>
              </a:ext>
            </a:extLst>
          </p:cNvPr>
          <p:cNvSpPr txBox="1"/>
          <p:nvPr/>
        </p:nvSpPr>
        <p:spPr>
          <a:xfrm>
            <a:off x="887983" y="1188720"/>
            <a:ext cx="10684891" cy="455256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endParaRPr lang="en-US" altLang="en-IN" sz="2800" b="1" dirty="0">
              <a:solidFill>
                <a:srgbClr val="FF0000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en-IN" sz="2600" b="1" dirty="0">
                <a:solidFill>
                  <a:srgbClr val="FF000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Major</a:t>
            </a:r>
            <a:r>
              <a:rPr lang="en-IN" altLang="en-IN" sz="2600" b="1" dirty="0">
                <a:solidFill>
                  <a:srgbClr val="FF000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Project External Presentation</a:t>
            </a:r>
          </a:p>
          <a:p>
            <a:pPr algn="ctr"/>
            <a:endParaRPr lang="en-IN" sz="2800" b="1" dirty="0">
              <a:solidFill>
                <a:srgbClr val="FF0000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algn="ctr"/>
            <a:r>
              <a:rPr sz="2000" b="1">
                <a:solidFill>
                  <a:srgbClr val="000000"/>
                </a:solidFill>
                <a:latin typeface="Times New Roman"/>
              </a:rPr>
              <a:t>FreshGuard: Freshness-Aware Adaptive Retrieval-Augmented Generation with a Learned Retrieval Gate and Statement Verification</a:t>
            </a:r>
            <a:endParaRPr lang="en-IN" sz="2800" b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1800" b="1">
                <a:solidFill>
                  <a:srgbClr val="1D2E5C"/>
                </a:solidFill>
                <a:latin typeface="Times New Roman"/>
              </a:rPr>
              <a:t>Team No: </a:t>
            </a:r>
          </a:p>
          <a:p>
            <a:r>
              <a:rPr sz="1800" b="1">
                <a:solidFill>
                  <a:srgbClr val="1D2E5C"/>
                </a:solidFill>
                <a:latin typeface="Times New Roman"/>
              </a:rPr>
              <a:t>Student Name : J. Sai Teja		Guide Name : Mohammad Arshad</a:t>
            </a:r>
          </a:p>
          <a:p>
            <a:r>
              <a:rPr sz="1800" b="1">
                <a:solidFill>
                  <a:srgbClr val="1D2E5C"/>
                </a:solidFill>
                <a:latin typeface="Times New Roman"/>
              </a:rPr>
              <a:t>HT.No	 : 23EG106C22			Designation : Assistant Professor</a:t>
            </a:r>
          </a:p>
          <a:p>
            <a:pPr algn="just"/>
            <a:r>
              <a:rPr sz="1800" b="1">
                <a:solidFill>
                  <a:srgbClr val="1D2E5C"/>
                </a:solidFill>
                <a:latin typeface="Times New Roman"/>
              </a:rPr>
              <a:t>Student Name : P. Supriya</a:t>
            </a:r>
            <a:endParaRPr lang="en-IN" sz="2400" b="1" dirty="0">
              <a:solidFill>
                <a:srgbClr val="002060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  <a:sym typeface="+mn-ea"/>
            </a:endParaRPr>
          </a:p>
          <a:p>
            <a:pPr algn="just"/>
            <a:r>
              <a:rPr sz="1800" b="1">
                <a:solidFill>
                  <a:srgbClr val="1D2E5C"/>
                </a:solidFill>
                <a:latin typeface="Times New Roman"/>
              </a:rPr>
              <a:t>HT.No	 : 23EG106C52</a:t>
            </a:r>
          </a:p>
          <a:p>
            <a:pPr algn="just"/>
            <a:r>
              <a:rPr sz="1800" b="1">
                <a:solidFill>
                  <a:srgbClr val="1D2E5C"/>
                </a:solidFill>
                <a:latin typeface="Times New Roman"/>
              </a:rPr>
              <a:t>Student Name : Sk. Mubeena</a:t>
            </a:r>
            <a:endParaRPr lang="en-IN" sz="2400" b="1" dirty="0">
              <a:solidFill>
                <a:srgbClr val="002060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  <a:sym typeface="+mn-ea"/>
            </a:endParaRPr>
          </a:p>
          <a:p>
            <a:r>
              <a:rPr sz="1800" b="1">
                <a:solidFill>
                  <a:srgbClr val="1D2E5C"/>
                </a:solidFill>
                <a:latin typeface="Times New Roman"/>
              </a:rPr>
              <a:t>HT.No	 : 23EG106C58</a:t>
            </a:r>
            <a:endParaRPr lang="en-US" altLang="en-IN" sz="2400" b="1" dirty="0">
              <a:solidFill>
                <a:srgbClr val="002060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algn="just"/>
            <a:r>
              <a:rPr sz="1800" b="1">
                <a:solidFill>
                  <a:srgbClr val="1D2E5C"/>
                </a:solidFill>
                <a:latin typeface="Times New Roman"/>
              </a:rPr>
              <a:t>Student Name : U. Venkatesh</a:t>
            </a:r>
            <a:endParaRPr lang="en-IN" sz="2400" b="1" dirty="0">
              <a:solidFill>
                <a:srgbClr val="002060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  <a:sym typeface="+mn-ea"/>
            </a:endParaRPr>
          </a:p>
          <a:p>
            <a:r>
              <a:rPr sz="1800" b="1">
                <a:solidFill>
                  <a:srgbClr val="1D2E5C"/>
                </a:solidFill>
                <a:latin typeface="Times New Roman"/>
              </a:rPr>
              <a:t>HT.No	 : 23EG106C63</a:t>
            </a:r>
            <a:endParaRPr lang="en-US" altLang="en-IN" sz="2400" b="1" dirty="0">
              <a:solidFill>
                <a:srgbClr val="002060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BD9EE75A-A727-0796-4913-D38E135CC5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2344" y="378389"/>
            <a:ext cx="5140043" cy="11069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30FBBDB-1D9B-B5E5-E149-1B2FCE501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9DDE7-DF24-421B-8B5A-9F7A222497E2}" type="slidenum">
              <a:rPr lang="en-US" smtClean="0"/>
              <a:t>1</a:t>
            </a:fld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BA6DA1C-8E3B-0468-8B76-60138437D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02/05/2026 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6BE3CEF-6431-0BDD-2516-997135C68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sz="1200">
                <a:solidFill>
                  <a:srgbClr val="898989"/>
                </a:solidFill>
                <a:latin typeface="Calibri"/>
              </a:rPr>
              <a:t>FreshGuard: Freshness-Aware Adaptive RAG</a:t>
            </a:r>
          </a:p>
        </p:txBody>
      </p:sp>
    </p:spTree>
    <p:extLst>
      <p:ext uri="{BB962C8B-B14F-4D97-AF65-F5344CB8AC3E}">
        <p14:creationId xmlns:p14="http://schemas.microsoft.com/office/powerpoint/2010/main" val="29339015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E98A57-4ABC-4F8C-F2E9-3985A1BDE8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F5024DE-566A-E135-C99C-708A264C5948}"/>
              </a:ext>
            </a:extLst>
          </p:cNvPr>
          <p:cNvSpPr/>
          <p:nvPr/>
        </p:nvSpPr>
        <p:spPr>
          <a:xfrm>
            <a:off x="-9831" y="0"/>
            <a:ext cx="274320" cy="6876288"/>
          </a:xfrm>
          <a:prstGeom prst="rect">
            <a:avLst/>
          </a:prstGeom>
          <a:solidFill>
            <a:srgbClr val="1D2E5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681996E-7476-463E-C7E7-EA5EF08F7D66}"/>
              </a:ext>
            </a:extLst>
          </p:cNvPr>
          <p:cNvSpPr/>
          <p:nvPr/>
        </p:nvSpPr>
        <p:spPr>
          <a:xfrm rot="5400000">
            <a:off x="4945479" y="-4972257"/>
            <a:ext cx="274320" cy="10186749"/>
          </a:xfrm>
          <a:prstGeom prst="rect">
            <a:avLst/>
          </a:prstGeom>
          <a:solidFill>
            <a:srgbClr val="1D2E5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Anurag University Admission 2024 - 2025, Fees, Courses, Placements, Cutoff,  Ranking">
            <a:extLst>
              <a:ext uri="{FF2B5EF4-FFF2-40B4-BE49-F238E27FC236}">
                <a16:creationId xmlns:a16="http://schemas.microsoft.com/office/drawing/2014/main" id="{25B72E0C-ECB5-C8D2-E9EA-697A8A09AC3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702"/>
          <a:stretch>
            <a:fillRect/>
          </a:stretch>
        </p:blipFill>
        <p:spPr bwMode="auto">
          <a:xfrm>
            <a:off x="10899312" y="27235"/>
            <a:ext cx="1194366" cy="1337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2B7D984-F481-8A82-3731-664409E718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1039793"/>
              </p:ext>
            </p:extLst>
          </p:nvPr>
        </p:nvGraphicFramePr>
        <p:xfrm>
          <a:off x="1827861" y="1055819"/>
          <a:ext cx="8908966" cy="5100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6188">
                  <a:extLst>
                    <a:ext uri="{9D8B030D-6E8A-4147-A177-3AD203B41FA5}">
                      <a16:colId xmlns:a16="http://schemas.microsoft.com/office/drawing/2014/main" val="3368147984"/>
                    </a:ext>
                  </a:extLst>
                </a:gridCol>
                <a:gridCol w="4582743">
                  <a:extLst>
                    <a:ext uri="{9D8B030D-6E8A-4147-A177-3AD203B41FA5}">
                      <a16:colId xmlns:a16="http://schemas.microsoft.com/office/drawing/2014/main" val="3995356100"/>
                    </a:ext>
                  </a:extLst>
                </a:gridCol>
                <a:gridCol w="3240035">
                  <a:extLst>
                    <a:ext uri="{9D8B030D-6E8A-4147-A177-3AD203B41FA5}">
                      <a16:colId xmlns:a16="http://schemas.microsoft.com/office/drawing/2014/main" val="2741894368"/>
                    </a:ext>
                  </a:extLst>
                </a:gridCol>
              </a:tblGrid>
              <a:tr h="399867">
                <a:tc>
                  <a:txBody>
                    <a:bodyPr/>
                    <a:lstStyle/>
                    <a:p>
                      <a:pPr algn="ctr"/>
                      <a:r>
                        <a:rPr lang="en-US" sz="2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</a:p>
                  </a:txBody>
                  <a:tcPr marL="104993" marR="104993" marT="52496" marB="524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</a:p>
                  </a:txBody>
                  <a:tcPr marL="104993" marR="104993" marT="52496" marB="524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Slide No</a:t>
                      </a:r>
                    </a:p>
                  </a:txBody>
                  <a:tcPr marL="104993" marR="104993" marT="52496" marB="524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5124677"/>
                  </a:ext>
                </a:extLst>
              </a:tr>
              <a:tr h="399867">
                <a:tc>
                  <a:txBody>
                    <a:bodyPr/>
                    <a:lstStyle/>
                    <a:p>
                      <a:pPr algn="ctr"/>
                      <a:r>
                        <a:rPr lang="en-US" sz="2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104993" marR="104993" marT="52496" marB="524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Abstract</a:t>
                      </a:r>
                    </a:p>
                  </a:txBody>
                  <a:tcPr marL="104993" marR="104993" marT="52496" marB="524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Times New Roman"/>
                        </a:rPr>
                        <a:t>3</a:t>
                      </a:r>
                      <a:endParaRPr lang="en-US" sz="2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4993" marR="104993" marT="52496" marB="524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1789016"/>
                  </a:ext>
                </a:extLst>
              </a:tr>
              <a:tr h="399867">
                <a:tc>
                  <a:txBody>
                    <a:bodyPr/>
                    <a:lstStyle/>
                    <a:p>
                      <a:pPr algn="ctr"/>
                      <a:r>
                        <a:rPr lang="en-US" sz="2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104993" marR="104993" marT="52496" marB="524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Introduction</a:t>
                      </a:r>
                    </a:p>
                  </a:txBody>
                  <a:tcPr marL="104993" marR="104993" marT="52496" marB="524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Times New Roman"/>
                        </a:rPr>
                        <a:t>4</a:t>
                      </a:r>
                      <a:endParaRPr lang="en-US" sz="2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4993" marR="104993" marT="52496" marB="524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9867">
                <a:tc>
                  <a:txBody>
                    <a:bodyPr/>
                    <a:lstStyle/>
                    <a:p>
                      <a:pPr algn="ctr"/>
                      <a:r>
                        <a:rPr lang="en-US" sz="2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104993" marR="104993" marT="52496" marB="524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Literature Survey</a:t>
                      </a:r>
                    </a:p>
                  </a:txBody>
                  <a:tcPr marL="104993" marR="104993" marT="52496" marB="524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Times New Roman"/>
                        </a:rPr>
                        <a:t>5</a:t>
                      </a:r>
                      <a:endParaRPr lang="en-US" sz="2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4993" marR="104993" marT="52496" marB="524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0614818"/>
                  </a:ext>
                </a:extLst>
              </a:tr>
              <a:tr h="399867">
                <a:tc>
                  <a:txBody>
                    <a:bodyPr/>
                    <a:lstStyle/>
                    <a:p>
                      <a:pPr algn="ctr"/>
                      <a:r>
                        <a:rPr lang="en-US" sz="2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104993" marR="104993" marT="52496" marB="524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Objectives</a:t>
                      </a:r>
                    </a:p>
                  </a:txBody>
                  <a:tcPr marL="104993" marR="104993" marT="52496" marB="524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Times New Roman"/>
                        </a:rPr>
                        <a:t>7</a:t>
                      </a:r>
                      <a:endParaRPr lang="en-US" sz="2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4993" marR="104993" marT="52496" marB="524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7283047"/>
                  </a:ext>
                </a:extLst>
              </a:tr>
              <a:tr h="399867">
                <a:tc>
                  <a:txBody>
                    <a:bodyPr/>
                    <a:lstStyle/>
                    <a:p>
                      <a:pPr algn="ctr"/>
                      <a:r>
                        <a:rPr lang="en-US" sz="2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104993" marR="104993" marT="52496" marB="524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Problem Statement</a:t>
                      </a:r>
                    </a:p>
                  </a:txBody>
                  <a:tcPr marL="104993" marR="104993" marT="52496" marB="524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Times New Roman"/>
                        </a:rPr>
                        <a:t>8</a:t>
                      </a:r>
                      <a:endParaRPr lang="en-US" sz="2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4993" marR="104993" marT="52496" marB="524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1214994"/>
                  </a:ext>
                </a:extLst>
              </a:tr>
              <a:tr h="399867">
                <a:tc>
                  <a:txBody>
                    <a:bodyPr/>
                    <a:lstStyle/>
                    <a:p>
                      <a:pPr algn="ctr"/>
                      <a:r>
                        <a:rPr lang="en-US" sz="2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104993" marR="104993" marT="52496" marB="524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 </a:t>
                      </a:r>
                    </a:p>
                  </a:txBody>
                  <a:tcPr marL="104993" marR="104993" marT="52496" marB="524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Times New Roman"/>
                        </a:rPr>
                        <a:t>9</a:t>
                      </a:r>
                      <a:endParaRPr lang="en-US" sz="2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4993" marR="104993" marT="52496" marB="524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9867">
                <a:tc>
                  <a:txBody>
                    <a:bodyPr/>
                    <a:lstStyle/>
                    <a:p>
                      <a:pPr algn="ctr"/>
                      <a:r>
                        <a:rPr lang="en-US" sz="2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104993" marR="104993" marT="52496" marB="524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Implementation</a:t>
                      </a:r>
                    </a:p>
                  </a:txBody>
                  <a:tcPr marL="104993" marR="104993" marT="52496" marB="524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Times New Roman"/>
                        </a:rPr>
                        <a:t>14</a:t>
                      </a:r>
                      <a:endParaRPr lang="en-US" sz="2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4993" marR="104993" marT="52496" marB="524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9867">
                <a:tc>
                  <a:txBody>
                    <a:bodyPr/>
                    <a:lstStyle/>
                    <a:p>
                      <a:pPr algn="ctr"/>
                      <a:r>
                        <a:rPr lang="en-US" sz="2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104993" marR="104993" marT="52496" marB="524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Results</a:t>
                      </a:r>
                    </a:p>
                  </a:txBody>
                  <a:tcPr marL="104993" marR="104993" marT="52496" marB="524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Times New Roman"/>
                        </a:rPr>
                        <a:t>16</a:t>
                      </a:r>
                      <a:endParaRPr lang="en-US" sz="2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4993" marR="104993" marT="52496" marB="524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1493505"/>
                  </a:ext>
                </a:extLst>
              </a:tr>
              <a:tr h="399867">
                <a:tc>
                  <a:txBody>
                    <a:bodyPr/>
                    <a:lstStyle/>
                    <a:p>
                      <a:pPr algn="ctr"/>
                      <a:r>
                        <a:rPr lang="en-US" sz="2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L="104993" marR="104993" marT="52496" marB="524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Discussion</a:t>
                      </a:r>
                    </a:p>
                  </a:txBody>
                  <a:tcPr marL="104993" marR="104993" marT="52496" marB="524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Times New Roman"/>
                        </a:rPr>
                        <a:t>19</a:t>
                      </a:r>
                      <a:endParaRPr lang="en-US" sz="2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4993" marR="104993" marT="52496" marB="524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0965170"/>
                  </a:ext>
                </a:extLst>
              </a:tr>
              <a:tr h="39986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 marL="104993" marR="104993" marT="52496" marB="524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Conclusion and Future Work</a:t>
                      </a:r>
                    </a:p>
                  </a:txBody>
                  <a:tcPr marL="104993" marR="104993" marT="52496" marB="524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Times New Roman"/>
                        </a:rPr>
                        <a:t>20</a:t>
                      </a:r>
                      <a:endParaRPr lang="en-US" sz="2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4993" marR="104993" marT="52496" marB="524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986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 marL="104993" marR="104993" marT="52496" marB="524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Reference</a:t>
                      </a:r>
                    </a:p>
                  </a:txBody>
                  <a:tcPr marL="104993" marR="104993" marT="52496" marB="524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Times New Roman"/>
                        </a:rPr>
                        <a:t>21</a:t>
                      </a:r>
                      <a:endParaRPr lang="en-US" sz="2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4993" marR="104993" marT="52496" marB="524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015080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F5BA4BE-F01B-5261-3DCF-E84C3FF0A644}"/>
              </a:ext>
            </a:extLst>
          </p:cNvPr>
          <p:cNvSpPr txBox="1"/>
          <p:nvPr/>
        </p:nvSpPr>
        <p:spPr>
          <a:xfrm>
            <a:off x="5211137" y="258278"/>
            <a:ext cx="15632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  <a:endParaRPr lang="en-US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C60A20-7E7E-C2CC-6B7F-D9052BC4E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02/05/2026 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EF5AFCD-CF77-AC40-1C8F-EFB23A945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sz="1200">
                <a:solidFill>
                  <a:srgbClr val="898989"/>
                </a:solidFill>
                <a:latin typeface="Calibri"/>
              </a:rPr>
              <a:t>FreshGuard: Freshness-Aware Adaptive RAG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DD7A8D9-AF1F-C484-3801-45A4C481D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9DDE7-DF24-421B-8B5A-9F7A222497E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4891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E0CCD1-8B62-C643-D2A8-5878CF0BD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04788D3-C1CE-2A1B-4469-7BA81C59C5F3}"/>
              </a:ext>
            </a:extLst>
          </p:cNvPr>
          <p:cNvSpPr/>
          <p:nvPr/>
        </p:nvSpPr>
        <p:spPr>
          <a:xfrm>
            <a:off x="-9831" y="0"/>
            <a:ext cx="274320" cy="6876288"/>
          </a:xfrm>
          <a:prstGeom prst="rect">
            <a:avLst/>
          </a:prstGeom>
          <a:solidFill>
            <a:srgbClr val="1D2E5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85C7F72-17F2-FE35-6291-F75C5B005D6F}"/>
              </a:ext>
            </a:extLst>
          </p:cNvPr>
          <p:cNvSpPr/>
          <p:nvPr/>
        </p:nvSpPr>
        <p:spPr>
          <a:xfrm rot="5400000">
            <a:off x="4945479" y="-4972257"/>
            <a:ext cx="274320" cy="10186749"/>
          </a:xfrm>
          <a:prstGeom prst="rect">
            <a:avLst/>
          </a:prstGeom>
          <a:solidFill>
            <a:srgbClr val="1D2E5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Anurag University Admission 2024 - 2025, Fees, Courses, Placements, Cutoff,  Ranking">
            <a:extLst>
              <a:ext uri="{FF2B5EF4-FFF2-40B4-BE49-F238E27FC236}">
                <a16:creationId xmlns:a16="http://schemas.microsoft.com/office/drawing/2014/main" id="{954A4294-4842-D7B6-CD4A-8AEB041ABF9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702"/>
          <a:stretch>
            <a:fillRect/>
          </a:stretch>
        </p:blipFill>
        <p:spPr bwMode="auto">
          <a:xfrm>
            <a:off x="10899312" y="27235"/>
            <a:ext cx="1194366" cy="1337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5937D63-51F1-28D8-A3B8-07E47F6E84E3}"/>
              </a:ext>
            </a:extLst>
          </p:cNvPr>
          <p:cNvSpPr txBox="1"/>
          <p:nvPr/>
        </p:nvSpPr>
        <p:spPr>
          <a:xfrm>
            <a:off x="3954270" y="653143"/>
            <a:ext cx="42834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 (IEEE Format)</a:t>
            </a:r>
            <a:endParaRPr lang="en-US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3F14EFA-52DD-4642-D09C-9AD6D8F49C17}"/>
              </a:ext>
            </a:extLst>
          </p:cNvPr>
          <p:cNvSpPr txBox="1"/>
          <p:nvPr/>
        </p:nvSpPr>
        <p:spPr>
          <a:xfrm>
            <a:off x="549792" y="1353487"/>
            <a:ext cx="11001737" cy="3782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lnSpc>
                <a:spcPct val="150000"/>
              </a:lnSpc>
              <a:spcAft>
                <a:spcPts val="600"/>
              </a:spcAft>
            </a:pPr>
            <a:r>
              <a:rPr sz="1400">
                <a:solidFill>
                  <a:srgbClr val="000000"/>
                </a:solidFill>
                <a:latin typeface="Times New Roman"/>
              </a:rPr>
              <a:t xml:space="preserve">[1]  P. Lewis et al., “Retrieval-augmented generation for knowledge-intensive NLP tasks”, Advances in Neural Information Processing Systems (NeurIPS), vol. 33, pp. 9459–9474, 2020.</a:t>
            </a:r>
          </a:p>
          <a:p>
            <a:pPr lvl="0" algn="l">
              <a:lnSpc>
                <a:spcPct val="150000"/>
              </a:lnSpc>
              <a:spcAft>
                <a:spcPts val="600"/>
              </a:spcAft>
            </a:pPr>
            <a:r>
              <a:rPr sz="1400">
                <a:solidFill>
                  <a:srgbClr val="000000"/>
                </a:solidFill>
                <a:latin typeface="Times New Roman"/>
              </a:rPr>
              <a:t xml:space="preserve">[2]  V. Karpukhin et al., “Dense passage retrieval for open-domain question answering”, Proc. EMNLP, pp. 6769–6781, 2020.</a:t>
            </a:r>
          </a:p>
          <a:p>
            <a:pPr lvl="0" algn="l">
              <a:lnSpc>
                <a:spcPct val="150000"/>
              </a:lnSpc>
              <a:spcAft>
                <a:spcPts val="600"/>
              </a:spcAft>
            </a:pPr>
            <a:r>
              <a:rPr sz="1400">
                <a:solidFill>
                  <a:srgbClr val="000000"/>
                </a:solidFill>
                <a:latin typeface="Times New Roman"/>
              </a:rPr>
              <a:t xml:space="preserve">[3]  J. Johnson, M. Douze and H. Jégou, “Billion-scale similarity search with GPUs”, IEEE Transactions on Big Data, vol. 7, no. 3, pp. 535–547, 2021.</a:t>
            </a:r>
          </a:p>
          <a:p>
            <a:pPr lvl="0" algn="l">
              <a:lnSpc>
                <a:spcPct val="150000"/>
              </a:lnSpc>
              <a:spcAft>
                <a:spcPts val="600"/>
              </a:spcAft>
            </a:pPr>
            <a:r>
              <a:rPr sz="1400">
                <a:solidFill>
                  <a:srgbClr val="000000"/>
                </a:solidFill>
                <a:latin typeface="Times New Roman"/>
              </a:rPr>
              <a:t xml:space="preserve">[4]  Z. Ji et al., “Survey of hallucination in natural language generation”, ACM Computing Surveys, vol. 55, no. 12, pp. 1–38, 2023.</a:t>
            </a:r>
          </a:p>
          <a:p>
            <a:pPr lvl="0" algn="l">
              <a:lnSpc>
                <a:spcPct val="150000"/>
              </a:lnSpc>
              <a:spcAft>
                <a:spcPts val="600"/>
              </a:spcAft>
            </a:pPr>
            <a:r>
              <a:rPr sz="1400">
                <a:solidFill>
                  <a:srgbClr val="000000"/>
                </a:solidFill>
                <a:latin typeface="Times New Roman"/>
              </a:rPr>
              <a:t xml:space="preserve">[5]  P. Manakul, A. Liusie and M. J. F. Gales, “SelfCheckGPT: Zero-resource black-box hallucination detection for generative LLMs”, Proc. EMNLP, pp. 9004–9017, 2023.</a:t>
            </a:r>
          </a:p>
          <a:p>
            <a:pPr lvl="0" algn="l">
              <a:lnSpc>
                <a:spcPct val="150000"/>
              </a:lnSpc>
              <a:spcAft>
                <a:spcPts val="600"/>
              </a:spcAft>
            </a:pPr>
            <a:r>
              <a:rPr sz="1400">
                <a:solidFill>
                  <a:srgbClr val="000000"/>
                </a:solidFill>
                <a:latin typeface="Times New Roman"/>
              </a:rPr>
              <a:t xml:space="preserve">[6]  A. Asai et al., “Self-RAG: Learning to retrieve, generate, and critique through self-reflection”, Proc. ICLR, 2024.</a:t>
            </a:r>
          </a:p>
          <a:p>
            <a:pPr lvl="0" algn="l">
              <a:lnSpc>
                <a:spcPct val="150000"/>
              </a:lnSpc>
              <a:spcAft>
                <a:spcPts val="600"/>
              </a:spcAft>
            </a:pPr>
            <a:r>
              <a:rPr sz="1400">
                <a:solidFill>
                  <a:srgbClr val="000000"/>
                </a:solidFill>
                <a:latin typeface="Times New Roman"/>
              </a:rPr>
              <a:t xml:space="preserve">[7]  Z. Jiang et al., “Active retrieval augmented generation”, Proc. EMNLP, pp. 7969–7992, 2023.</a:t>
            </a:r>
          </a:p>
          <a:p>
            <a:pPr lvl="0" algn="l">
              <a:lnSpc>
                <a:spcPct val="150000"/>
              </a:lnSpc>
              <a:spcAft>
                <a:spcPts val="600"/>
              </a:spcAft>
            </a:pPr>
            <a:r>
              <a:rPr sz="1400">
                <a:solidFill>
                  <a:srgbClr val="000000"/>
                </a:solidFill>
                <a:latin typeface="Times New Roman"/>
              </a:rPr>
              <a:t xml:space="preserve">[8]  J. Kasai et al., “RealTime QA: What’s the answer right now?”, Advances in Neural Information Processing Systems (NeurIPS), vol. 36, 2023.</a:t>
            </a:r>
          </a:p>
          <a:p>
            <a:pPr lvl="0" algn="l">
              <a:lnSpc>
                <a:spcPct val="150000"/>
              </a:lnSpc>
              <a:spcAft>
                <a:spcPts val="600"/>
              </a:spcAft>
            </a:pPr>
            <a:r>
              <a:rPr sz="1400">
                <a:solidFill>
                  <a:srgbClr val="000000"/>
                </a:solidFill>
                <a:latin typeface="Times New Roman"/>
              </a:rPr>
              <a:t xml:space="preserve">[9]  T. Vu et al., “FreshLLMs: Refreshing large language models with search engine augmentation”, Findings of ACL, 2024.</a:t>
            </a:r>
          </a:p>
          <a:p>
            <a:pPr lvl="0" algn="l">
              <a:lnSpc>
                <a:spcPct val="150000"/>
              </a:lnSpc>
              <a:spcAft>
                <a:spcPts val="600"/>
              </a:spcAft>
            </a:pPr>
            <a:r>
              <a:rPr sz="1400">
                <a:solidFill>
                  <a:srgbClr val="000000"/>
                </a:solidFill>
                <a:latin typeface="Times New Roman"/>
              </a:rPr>
              <a:t xml:space="preserve">[10] A. Mallen et al., “When not to trust language models: Investigating the effectiveness of parametric and non-parametric memories”, Proc. ACL, pp. 9802–9822, 2023.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0B0573-6C31-C0E4-8B9F-B3B219BE1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02/05/2026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83E613-7143-08FF-4231-9E1F56226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sz="1200">
                <a:solidFill>
                  <a:srgbClr val="898989"/>
                </a:solidFill>
                <a:latin typeface="Calibri"/>
              </a:rPr>
              <a:t>FreshGuard: Freshness-Aware Adaptive RAG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298E44-CCD0-5B87-3FF8-197508C1E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9DDE7-DF24-421B-8B5A-9F7A222497E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015308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831" y="0"/>
            <a:ext cx="274320" cy="6876288"/>
          </a:xfrm>
          <a:prstGeom prst="rect">
            <a:avLst/>
          </a:prstGeom>
          <a:solidFill>
            <a:srgbClr val="1D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5400000">
            <a:off x="4945479" y="-4972257"/>
            <a:ext cx="274320" cy="10186749"/>
          </a:xfrm>
          <a:prstGeom prst="rect">
            <a:avLst/>
          </a:prstGeom>
          <a:solidFill>
            <a:srgbClr val="1D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9312" y="27235"/>
            <a:ext cx="1194366" cy="133750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898989"/>
                </a:solidFill>
                <a:latin typeface="Calibri"/>
              </a:rPr>
              <a:t>02/05/2026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898989"/>
                </a:solidFill>
                <a:latin typeface="Calibri"/>
              </a:rPr>
              <a:t>FreshGuard: Freshness-Aware Adaptive RAG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898989"/>
                </a:solidFill>
                <a:latin typeface="Calibr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000" y="350000"/>
            <a:ext cx="100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0000"/>
                </a:solidFill>
                <a:latin typeface="Times New Roman"/>
              </a:rPr>
              <a:t xml:space="preserve">Abstract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0000" y="1400000"/>
            <a:ext cx="10900000" cy="4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000000"/>
                </a:solidFill>
                <a:latin typeface="Times New Roman"/>
              </a:rPr>
              <a:t xml:space="preserve">• Large language models answer fluently even when their built-in knowledge is out of date, and standard RAG retrieves evidence for every query — paying latency and cost even when the model already knows the answer.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000000"/>
                </a:solidFill>
                <a:latin typeface="Times New Roman"/>
              </a:rPr>
              <a:t xml:space="preserve">• FreshGuard is an adaptive RAG system that places two learned gates around generation: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000000"/>
                </a:solidFill>
                <a:latin typeface="Times New Roman"/>
              </a:rPr>
              <a:t xml:space="preserve">   – Freshness gate: a learned estimator predicts the probability that the model’s knowledge is stale for a query and retrieves only when that probability — or low self-confidence — crosses a threshold.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000000"/>
                </a:solidFill>
                <a:latin typeface="Times New Roman"/>
              </a:rPr>
              <a:t xml:space="preserve">   – Verification gate: every answer is split into atomic statements, each checked against the evidence and labelled supported, unsupported, or contradicted; hallucinations are corrected or flagged, with a calibrated confidence score and cited sources.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000000"/>
                </a:solidFill>
                <a:latin typeface="Times New Roman"/>
              </a:rPr>
              <a:t xml:space="preserve">• Built on LangChain and a FAISS vector store; fully offline and deterministic by default; a FastAPI service with a web UI, query history, feedback, admin configuration, and an evaluation module.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000000"/>
                </a:solidFill>
                <a:latin typeface="Times New Roman"/>
              </a:rPr>
              <a:t xml:space="preserve">• Results: 100% retrieval-decision accuracy, perfect factuality on in-scope queries, F1 = 1.00 for hallucination detection, and expected calibration error (ECE) = 0.10 — while skipping retrieval for queries whose answers are stable.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000000"/>
                </a:solidFill>
                <a:latin typeface="Times New Roman"/>
              </a:rPr>
              <a:t xml:space="preserve">• The complete implementation is reproducible and passed its entire automated test suite across twelve consecutive runs.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000000"/>
                </a:solidFill>
                <a:latin typeface="Times New Roman"/>
              </a:rPr>
              <a:t xml:space="preserve">• Main weakness: evaluation is on a small controlled benchmark — broadening the freshness estimator with real query logs (e.g. FreshQA) is the key next step.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831" y="0"/>
            <a:ext cx="274320" cy="6876288"/>
          </a:xfrm>
          <a:prstGeom prst="rect">
            <a:avLst/>
          </a:prstGeom>
          <a:solidFill>
            <a:srgbClr val="1D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5400000">
            <a:off x="4945479" y="-4972257"/>
            <a:ext cx="274320" cy="10186749"/>
          </a:xfrm>
          <a:prstGeom prst="rect">
            <a:avLst/>
          </a:prstGeom>
          <a:solidFill>
            <a:srgbClr val="1D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9312" y="27235"/>
            <a:ext cx="1194366" cy="133750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898989"/>
                </a:solidFill>
                <a:latin typeface="Calibri"/>
              </a:rPr>
              <a:t>02/05/2026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898989"/>
                </a:solidFill>
                <a:latin typeface="Calibri"/>
              </a:rPr>
              <a:t>FreshGuard: Freshness-Aware Adaptive RAG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898989"/>
                </a:solidFill>
                <a:latin typeface="Calibri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000" y="350000"/>
            <a:ext cx="100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0000"/>
                </a:solidFill>
                <a:latin typeface="Times New Roman"/>
              </a:rPr>
              <a:t xml:space="preserve">Introduction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0000" y="1400000"/>
            <a:ext cx="10900000" cy="4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000000"/>
                </a:solidFill>
                <a:latin typeface="Times New Roman"/>
              </a:rPr>
              <a:t xml:space="preserve">• LLMs encode a vast amount of world knowledge in their parameters, but that knowledge is frozen at training time.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000000"/>
                </a:solidFill>
                <a:latin typeface="Times New Roman"/>
              </a:rPr>
              <a:t xml:space="preserve">• For questions whose answers change over time — sports results, prices, policy rates, the latest hardware — parametric memory is quickly outdated, yet the model still gives fluent, confident, and often wrong answers [8], [9].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000000"/>
                </a:solidFill>
                <a:latin typeface="Times New Roman"/>
              </a:rPr>
              <a:t xml:space="preserve">• RAG [1] mitigates this by grounding answers in retrieved documents, but standard RAG retrieves for every query: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000000"/>
                </a:solidFill>
                <a:latin typeface="Times New Roman"/>
              </a:rPr>
              <a:t xml:space="preserve">   – Wasteful for the large fraction of questions — definitions, physical constants, stable facts — the model already answers correctly.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000000"/>
                </a:solidFill>
                <a:latin typeface="Times New Roman"/>
              </a:rPr>
              <a:t xml:space="preserve">   – It can even degrade answers by injecting irrelevant context [10].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000000"/>
                </a:solidFill>
                <a:latin typeface="Times New Roman"/>
              </a:rPr>
              <a:t xml:space="preserve">• Two questions matter in a practical system: when should we retrieve, and how do we know the final answer is trustworthy?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000000"/>
                </a:solidFill>
                <a:latin typeface="Times New Roman"/>
              </a:rPr>
              <a:t xml:space="preserve">• Our goal: an adaptive system that retrieves only when the model’s knowledge is likely stale, then verifies every claim against the evidence before showing the answer — with a freshness indicator, a confidence meter, per-claim labels, and cited, dated sources.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831" y="0"/>
            <a:ext cx="274320" cy="6876288"/>
          </a:xfrm>
          <a:prstGeom prst="rect">
            <a:avLst/>
          </a:prstGeom>
          <a:solidFill>
            <a:srgbClr val="1D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5400000">
            <a:off x="4945479" y="-4972257"/>
            <a:ext cx="274320" cy="10186749"/>
          </a:xfrm>
          <a:prstGeom prst="rect">
            <a:avLst/>
          </a:prstGeom>
          <a:solidFill>
            <a:srgbClr val="1D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9312" y="27235"/>
            <a:ext cx="1194366" cy="133750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898989"/>
                </a:solidFill>
                <a:latin typeface="Calibri"/>
              </a:rPr>
              <a:t>02/05/2026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898989"/>
                </a:solidFill>
                <a:latin typeface="Calibri"/>
              </a:rPr>
              <a:t>FreshGuard: Freshness-Aware Adaptive RAG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898989"/>
                </a:solidFill>
                <a:latin typeface="Calibr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000" y="350000"/>
            <a:ext cx="100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0000"/>
                </a:solidFill>
                <a:latin typeface="Times New Roman"/>
              </a:rPr>
              <a:t xml:space="preserve">Literature Survey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0000" y="1400000"/>
            <a:ext cx="10900000" cy="4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000000"/>
                </a:solidFill>
                <a:latin typeface="Times New Roman"/>
              </a:rPr>
              <a:t xml:space="preserve">• Retrieval-augmented generation — Lewis et al. [1]: couple a parametric generator with a non-parametric retriever; dense passage retrieval [2] indexed with FAISS [3], or sparse BM25 [13]; these retrieve unconditionally.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000000"/>
                </a:solidFill>
                <a:latin typeface="Times New Roman"/>
              </a:rPr>
              <a:t xml:space="preserve">• Adaptive and active retrieval: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000000"/>
                </a:solidFill>
                <a:latin typeface="Times New Roman"/>
              </a:rPr>
              <a:t xml:space="preserve">   – Self-RAG [6]: trains a model to decide when to retrieve and to critique its own output with reflection tokens.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000000"/>
                </a:solidFill>
                <a:latin typeface="Times New Roman"/>
              </a:rPr>
              <a:t xml:space="preserve">   – FLARE [7]: retrieves actively during generation when the model is uncertain.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000000"/>
                </a:solidFill>
                <a:latin typeface="Times New Roman"/>
              </a:rPr>
              <a:t xml:space="preserve">   – Mallen et al. [10]: retrieval helps mainly for less-popular, long-tail facts.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000000"/>
                </a:solidFill>
                <a:latin typeface="Times New Roman"/>
              </a:rPr>
              <a:t xml:space="preserve">• Knowledge freshness — RealTimeQA [8] and FreshLLMs / FreshQA [9]: time-sensitive questions are a systematic failure mode; search augmentation helps.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000000"/>
                </a:solidFill>
                <a:latin typeface="Times New Roman"/>
              </a:rPr>
              <a:t xml:space="preserve">• Hallucination detection and factuality: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000000"/>
                </a:solidFill>
                <a:latin typeface="Times New Roman"/>
              </a:rPr>
              <a:t xml:space="preserve">   – Survey of hallucination in NLG [4]; SelfCheckGPT [5] detects by sampling consistency; FACTScore [11] decomposes text into atomic facts.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000000"/>
                </a:solidFill>
                <a:latin typeface="Times New Roman"/>
              </a:rPr>
              <a:t xml:space="preserve">• Calibration — Guo et al. [12]: calibration of modern neural networks; we report expected calibration error for our fused score.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831" y="0"/>
            <a:ext cx="274320" cy="6876288"/>
          </a:xfrm>
          <a:prstGeom prst="rect">
            <a:avLst/>
          </a:prstGeom>
          <a:solidFill>
            <a:srgbClr val="1D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5400000">
            <a:off x="4945479" y="-4972257"/>
            <a:ext cx="274320" cy="10186749"/>
          </a:xfrm>
          <a:prstGeom prst="rect">
            <a:avLst/>
          </a:prstGeom>
          <a:solidFill>
            <a:srgbClr val="1D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9312" y="27235"/>
            <a:ext cx="1194366" cy="133750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898989"/>
                </a:solidFill>
                <a:latin typeface="Calibri"/>
              </a:rPr>
              <a:t>02/05/2026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898989"/>
                </a:solidFill>
                <a:latin typeface="Calibri"/>
              </a:rPr>
              <a:t>FreshGuard: Freshness-Aware Adaptive RAG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898989"/>
                </a:solidFill>
                <a:latin typeface="Calibr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000" y="350000"/>
            <a:ext cx="100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0000"/>
                </a:solidFill>
                <a:latin typeface="Times New Roman"/>
              </a:rPr>
              <a:t xml:space="preserve">Literature Survey – Research Gap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0000" y="1400000"/>
            <a:ext cx="10900000" cy="4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000000"/>
                </a:solidFill>
                <a:latin typeface="Times New Roman"/>
              </a:rPr>
              <a:t xml:space="preserve">• Retrieval is unconditional: standard RAG pays latency and cost on every query, even stable ones the model already answers correctly.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000000"/>
                </a:solidFill>
                <a:latin typeface="Times New Roman"/>
              </a:rPr>
              <a:t xml:space="preserve">• Freshness is usually handled with fixed time-decay heuristics, not a learned, calibrated, per-query decision.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000000"/>
                </a:solidFill>
                <a:latin typeface="Times New Roman"/>
              </a:rPr>
              <a:t xml:space="preserve">• Gaps this project addresses: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000000"/>
                </a:solidFill>
                <a:latin typeface="Times New Roman"/>
              </a:rPr>
              <a:t xml:space="preserve">   – A learned, feature-augmented freshness estimator that replaces fixed time-decay rules with a calibrated probability, deciding before generation whether to retrieve.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000000"/>
                </a:solidFill>
                <a:latin typeface="Times New Roman"/>
              </a:rPr>
              <a:t xml:space="preserve">   – An adaptive retrieve-or-skip policy that combines freshness and model self-confidence.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000000"/>
                </a:solidFill>
                <a:latin typeface="Times New Roman"/>
              </a:rPr>
              <a:t xml:space="preserve">   – Lightweight, offline statement-level verification that flags unsupported and contradicted claims — including entity-swap and numeric-mismatch hallucinations — and acts on them in-line.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000000"/>
                </a:solidFill>
                <a:latin typeface="Times New Roman"/>
              </a:rPr>
              <a:t xml:space="preserve">   – A single fused confidence score (evidence support + relevance + freshness alignment) presented with per-claim support and cited, dated sources.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000000"/>
                </a:solidFill>
                <a:latin typeface="Times New Roman"/>
              </a:rPr>
              <a:t xml:space="preserve">   – A complete, reproducible, fully tested artifact — not an offline-only detector that merely reports scores.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831" y="0"/>
            <a:ext cx="274320" cy="6876288"/>
          </a:xfrm>
          <a:prstGeom prst="rect">
            <a:avLst/>
          </a:prstGeom>
          <a:solidFill>
            <a:srgbClr val="1D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5400000">
            <a:off x="4945479" y="-4972257"/>
            <a:ext cx="274320" cy="10186749"/>
          </a:xfrm>
          <a:prstGeom prst="rect">
            <a:avLst/>
          </a:prstGeom>
          <a:solidFill>
            <a:srgbClr val="1D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9312" y="27235"/>
            <a:ext cx="1194366" cy="133750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898989"/>
                </a:solidFill>
                <a:latin typeface="Calibri"/>
              </a:rPr>
              <a:t>02/05/2026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898989"/>
                </a:solidFill>
                <a:latin typeface="Calibri"/>
              </a:rPr>
              <a:t>FreshGuard: Freshness-Aware Adaptive RAG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898989"/>
                </a:solidFill>
                <a:latin typeface="Calibri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000" y="350000"/>
            <a:ext cx="100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0000"/>
                </a:solidFill>
                <a:latin typeface="Times New Roman"/>
              </a:rPr>
              <a:t xml:space="preserve">Objectives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0000" y="1400000"/>
            <a:ext cx="10900000" cy="4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000000"/>
                </a:solidFill>
                <a:latin typeface="Times New Roman"/>
              </a:rPr>
              <a:t xml:space="preserve">• Build a preprocessing stage that cleans and normalises the query, classifies its topic, and flags time-sensitivity using temporal cues and recent-year mentions.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000000"/>
                </a:solidFill>
                <a:latin typeface="Times New Roman"/>
              </a:rPr>
              <a:t xml:space="preserve">• Train a learned freshness estimator that predicts the probability the model’s parametric knowledge is stale for a query.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000000"/>
                </a:solidFill>
                <a:latin typeface="Times New Roman"/>
              </a:rPr>
              <a:t xml:space="preserve">• Implement an adaptive retrieve-or-skip policy combining freshness and model self-confidence, with administrator-configurable thresholds.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000000"/>
                </a:solidFill>
                <a:latin typeface="Times New Roman"/>
              </a:rPr>
              <a:t xml:space="preserve">• Implement offline, deterministic retrieval over a LangChain / FAISS index with a recency-weighted ranking score.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000000"/>
                </a:solidFill>
                <a:latin typeface="Times New Roman"/>
              </a:rPr>
              <a:t xml:space="preserve">• Design statement-level verification that labels each claim supported / unsupported / contradicted and corrects or flags hallucinations.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000000"/>
                </a:solidFill>
                <a:latin typeface="Times New Roman"/>
              </a:rPr>
              <a:t xml:space="preserve">• Emit a calibrated confidence score and present answers with a freshness badge, a confidence meter, per-claim labels, and cited sources.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000000"/>
                </a:solidFill>
                <a:latin typeface="Times New Roman"/>
              </a:rPr>
              <a:t xml:space="preserve">• Deliver a complete FastAPI and web application with history, feedback, admin configuration, and an evaluation module — and report results honestly, including limitations.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831" y="0"/>
            <a:ext cx="274320" cy="6876288"/>
          </a:xfrm>
          <a:prstGeom prst="rect">
            <a:avLst/>
          </a:prstGeom>
          <a:solidFill>
            <a:srgbClr val="1D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5400000">
            <a:off x="4945479" y="-4972257"/>
            <a:ext cx="274320" cy="10186749"/>
          </a:xfrm>
          <a:prstGeom prst="rect">
            <a:avLst/>
          </a:prstGeom>
          <a:solidFill>
            <a:srgbClr val="1D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9312" y="27235"/>
            <a:ext cx="1194366" cy="133750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898989"/>
                </a:solidFill>
                <a:latin typeface="Calibri"/>
              </a:rPr>
              <a:t>02/05/2026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898989"/>
                </a:solidFill>
                <a:latin typeface="Calibri"/>
              </a:rPr>
              <a:t>FreshGuard: Freshness-Aware Adaptive RAG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898989"/>
                </a:solidFill>
                <a:latin typeface="Calibri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000" y="350000"/>
            <a:ext cx="100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0000"/>
                </a:solidFill>
                <a:latin typeface="Times New Roman"/>
              </a:rPr>
              <a:t xml:space="preserve">Problem Statement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0000" y="1400000"/>
            <a:ext cx="10900000" cy="4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000000"/>
                </a:solidFill>
                <a:latin typeface="Times New Roman"/>
              </a:rPr>
              <a:t xml:space="preserve">• Standard RAG systems ground answers in retrieved documents, but: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000000"/>
                </a:solidFill>
                <a:latin typeface="Times New Roman"/>
              </a:rPr>
              <a:t xml:space="preserve">   – Retrieve for every query: latency and cost are paid even for stable facts the model already knows, and irrelevant context can degrade the answer.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000000"/>
                </a:solidFill>
                <a:latin typeface="Times New Roman"/>
              </a:rPr>
              <a:t xml:space="preserve">   – No freshness decision: there is no explicit, learned judgement of whether the model’s knowledge is likely stale for a query.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000000"/>
                </a:solidFill>
                <a:latin typeface="Times New Roman"/>
              </a:rPr>
              <a:t xml:space="preserve">   – Unverified answers: the generated answer is shown as-is, even when a claim is unsupported or contradicts the evidence.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000000"/>
                </a:solidFill>
                <a:latin typeface="Times New Roman"/>
              </a:rPr>
              <a:t xml:space="preserve">   – No evidence for the reader: users are not shown which statement is supported by which source, nor how fresh the sources are.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000000"/>
                </a:solidFill>
                <a:latin typeface="Times New Roman"/>
              </a:rPr>
              <a:t xml:space="preserve">• Need: a system that (1) decides when to retrieve from a learned freshness estimate plus model confidence, (2) retrieves with recency-aware ranking only when warranted, (3) verifies every statement against the evidence and corrects or flags hallucinations, and (4) presents a calibrated, cited answer with per-claim support labels and a freshness indicator.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831" y="0"/>
            <a:ext cx="274320" cy="6876288"/>
          </a:xfrm>
          <a:prstGeom prst="rect">
            <a:avLst/>
          </a:prstGeom>
          <a:solidFill>
            <a:srgbClr val="1D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5400000">
            <a:off x="4945479" y="-4972257"/>
            <a:ext cx="274320" cy="10186749"/>
          </a:xfrm>
          <a:prstGeom prst="rect">
            <a:avLst/>
          </a:prstGeom>
          <a:solidFill>
            <a:srgbClr val="1D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9312" y="27235"/>
            <a:ext cx="1194366" cy="133750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898989"/>
                </a:solidFill>
                <a:latin typeface="Calibri"/>
              </a:rPr>
              <a:t>02/05/2026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898989"/>
                </a:solidFill>
                <a:latin typeface="Calibri"/>
              </a:rPr>
              <a:t>FreshGuard: Freshness-Aware Adaptive RAG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898989"/>
                </a:solidFill>
                <a:latin typeface="Calibri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000" y="350000"/>
            <a:ext cx="100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0000"/>
                </a:solidFill>
                <a:latin typeface="Times New Roman"/>
              </a:rPr>
              <a:t xml:space="preserve">Methodology – System Architecture</a:t>
            </a:r>
          </a:p>
        </p:txBody>
      </p:sp>
      <p:pic>
        <p:nvPicPr>
          <p:cNvPr id="9" name="Picture 8" descr="page15_fi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2878" y="1188720"/>
            <a:ext cx="4785939" cy="2971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3504" y="4343400"/>
            <a:ext cx="10899648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>
                <a:solidFill>
                  <a:srgbClr val="000000"/>
                </a:solidFill>
                <a:latin typeface="Times New Roman"/>
              </a:rPr>
              <a:t xml:space="preserve">• Web client → FastAPI service → FreshGuard pipeline → a structured response rendered as an answer with a confidence meter, a freshness badge, per-claim verification, and cited sources.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000000"/>
                </a:solidFill>
                <a:latin typeface="Times New Roman"/>
              </a:rPr>
              <a:t xml:space="preserve">• Supported by a learned freshness estimator, a LangChain / FAISS vector store of dated documents, and a SQLite store for history, feedback, configuration, and the managed knowledge base.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000000"/>
                </a:solidFill>
                <a:latin typeface="Times New Roman"/>
              </a:rPr>
              <a:t xml:space="preserve">• The LLM is a pluggable provider — an offline grounded generator by default (deterministic, no external services), with OpenAI or Anthropic adapters selectable by configuration.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831" y="0"/>
            <a:ext cx="274320" cy="6876288"/>
          </a:xfrm>
          <a:prstGeom prst="rect">
            <a:avLst/>
          </a:prstGeom>
          <a:solidFill>
            <a:srgbClr val="1D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5400000">
            <a:off x="4945479" y="-4972257"/>
            <a:ext cx="274320" cy="10186749"/>
          </a:xfrm>
          <a:prstGeom prst="rect">
            <a:avLst/>
          </a:prstGeom>
          <a:solidFill>
            <a:srgbClr val="1D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9312" y="27235"/>
            <a:ext cx="1194366" cy="133750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898989"/>
                </a:solidFill>
                <a:latin typeface="Calibri"/>
              </a:rPr>
              <a:t>02/05/2026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898989"/>
                </a:solidFill>
                <a:latin typeface="Calibri"/>
              </a:rPr>
              <a:t>FreshGuard: Freshness-Aware Adaptive RAG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898989"/>
                </a:solidFill>
                <a:latin typeface="Calibr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000" y="350000"/>
            <a:ext cx="100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0000"/>
                </a:solidFill>
                <a:latin typeface="Times New Roman"/>
              </a:rPr>
              <a:t xml:space="preserve">Methodology – Preprocessing and Freshness Estimation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0000" y="1400000"/>
            <a:ext cx="10900000" cy="4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000000"/>
                </a:solidFill>
                <a:latin typeface="Times New Roman"/>
              </a:rPr>
              <a:t xml:space="preserve">• Preprocessing: the query is cleaned and normalised, classified by topic (sports, finance, technology, science, geography, politics), and flagged time-sensitive using temporal cues and explicit recent-year mentions.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000000"/>
                </a:solidFill>
                <a:latin typeface="Times New Roman"/>
              </a:rPr>
              <a:t xml:space="preserve">• Learned freshness estimator g(q) ∈ [0, 1] predicts the probability that parametric knowledge is stale — replacing fixed time-decay heuristics with a calibrated probability.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000000"/>
                </a:solidFill>
                <a:latin typeface="Times New Roman"/>
              </a:rPr>
              <a:t xml:space="preserve">• A logistic-regression classifier over a feature union: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000000"/>
                </a:solidFill>
                <a:latin typeface="Times New Roman"/>
              </a:rPr>
              <a:t xml:space="preserve">   – word uni/bi-gram TF–IDF;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000000"/>
                </a:solidFill>
                <a:latin typeface="Times New Roman"/>
              </a:rPr>
              <a:t xml:space="preserve">   – character n-gram TF–IDF (robust to spelling and morphology);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000000"/>
                </a:solidFill>
                <a:latin typeface="Times New Roman"/>
              </a:rPr>
              <a:t xml:space="preserve">   – explicit temporal features: temporal-keyword counts, event/price-keyword counts, static-cue counts, number of year mentions, a recent-year indicator (≥ 2020), and query length.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000000"/>
                </a:solidFill>
                <a:latin typeface="Times New Roman"/>
              </a:rPr>
              <a:t xml:space="preserve">• Trained on a synthesised, seeded dataset of time-sensitive and timeless query templates — reproducible; it separates the two classes cleanly around the operating threshold τ = 0.55.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831" y="0"/>
            <a:ext cx="274320" cy="6876288"/>
          </a:xfrm>
          <a:prstGeom prst="rect">
            <a:avLst/>
          </a:prstGeom>
          <a:solidFill>
            <a:srgbClr val="1D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5400000">
            <a:off x="4945479" y="-4972257"/>
            <a:ext cx="274320" cy="10186749"/>
          </a:xfrm>
          <a:prstGeom prst="rect">
            <a:avLst/>
          </a:prstGeom>
          <a:solidFill>
            <a:srgbClr val="1D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9312" y="27235"/>
            <a:ext cx="1194366" cy="133750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898989"/>
                </a:solidFill>
                <a:latin typeface="Calibri"/>
              </a:rPr>
              <a:t>02/05/2026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898989"/>
                </a:solidFill>
                <a:latin typeface="Calibri"/>
              </a:rPr>
              <a:t>FreshGuard: Freshness-Aware Adaptive RAG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898989"/>
                </a:solidFill>
                <a:latin typeface="Calibri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000" y="350000"/>
            <a:ext cx="100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0000"/>
                </a:solidFill>
                <a:latin typeface="Times New Roman"/>
              </a:rPr>
              <a:t xml:space="preserve">Methodology – Adaptive Retrieve-or-Skip and Ranking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0000" y="1400000"/>
            <a:ext cx="10900000" cy="4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000000"/>
                </a:solidFill>
                <a:latin typeface="Times New Roman"/>
              </a:rPr>
              <a:t xml:space="preserve">• Adaptive policy: with freshness g(q) and model self-confidence c(q), FreshGuard retrieves iff g(q) ≥ τ or c(q) &lt; τc; otherwise it answers directly from parametric knowledge, saving a retrieval round-trip. Both thresholds are administrator-configurable.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000000"/>
                </a:solidFill>
                <a:latin typeface="Times New Roman"/>
              </a:rPr>
              <a:t xml:space="preserve">• When retrieval triggers, the query is embedded and matched against a FAISS index built through LangChain.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000000"/>
                </a:solidFill>
                <a:latin typeface="Times New Roman"/>
              </a:rPr>
              <a:t xml:space="preserve">• Offline and deterministic: embeddings are unit-normalised TF–IDF vectors, so inner-product search equals cosine similarity; the seam for a transformer encoder or a live web-search source is preserved.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000000"/>
                </a:solidFill>
                <a:latin typeface="Times New Roman"/>
              </a:rPr>
              <a:t xml:space="preserve">• Recency-aware ranking: score(d) = rel(q, d) · (0.6 + 0.4·ρ(d)),  ρ(d) = 0.5^(Δd / h), where Δd is the document’s age in years and h a half-life — among comparably relevant documents, fresher ones rank higher.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831" y="0"/>
            <a:ext cx="274320" cy="6876288"/>
          </a:xfrm>
          <a:prstGeom prst="rect">
            <a:avLst/>
          </a:prstGeom>
          <a:solidFill>
            <a:srgbClr val="1D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5400000">
            <a:off x="4945479" y="-4972257"/>
            <a:ext cx="274320" cy="10186749"/>
          </a:xfrm>
          <a:prstGeom prst="rect">
            <a:avLst/>
          </a:prstGeom>
          <a:solidFill>
            <a:srgbClr val="1D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9312" y="27235"/>
            <a:ext cx="1194366" cy="133750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898989"/>
                </a:solidFill>
                <a:latin typeface="Calibri"/>
              </a:rPr>
              <a:t>02/05/2026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898989"/>
                </a:solidFill>
                <a:latin typeface="Calibri"/>
              </a:rPr>
              <a:t>FreshGuard: Freshness-Aware Adaptive RAG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898989"/>
                </a:solidFill>
                <a:latin typeface="Calibri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000" y="350000"/>
            <a:ext cx="100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0000"/>
                </a:solidFill>
                <a:latin typeface="Times New Roman"/>
              </a:rPr>
              <a:t xml:space="preserve">Methodology – Grounded Generation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0000" y="1400000"/>
            <a:ext cx="10900000" cy="4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000000"/>
                </a:solidFill>
                <a:latin typeface="Times New Roman"/>
              </a:rPr>
              <a:t xml:space="preserve">• A pluggable generator produces an answer grounded in the retrieved evidence.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000000"/>
                </a:solidFill>
                <a:latin typeface="Times New Roman"/>
              </a:rPr>
              <a:t xml:space="preserve">• The default offline generator composes the answer from the evidence sentences most relevant to the query.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000000"/>
                </a:solidFill>
                <a:latin typeface="Times New Roman"/>
              </a:rPr>
              <a:t xml:space="preserve">• Its parametric memory contains only timeless facts, modelling a knowledge cutoff — so time-sensitive queries genuinely require retrieval, precisely the case the freshness gate is designed to catch.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000000"/>
                </a:solidFill>
                <a:latin typeface="Times New Roman"/>
              </a:rPr>
              <a:t xml:space="preserve">• OpenAI or Anthropic adapters can be selected by configuration behind the same interface, without changing the pipeline.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831" y="0"/>
            <a:ext cx="274320" cy="6876288"/>
          </a:xfrm>
          <a:prstGeom prst="rect">
            <a:avLst/>
          </a:prstGeom>
          <a:solidFill>
            <a:srgbClr val="1D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5400000">
            <a:off x="4945479" y="-4972257"/>
            <a:ext cx="274320" cy="10186749"/>
          </a:xfrm>
          <a:prstGeom prst="rect">
            <a:avLst/>
          </a:prstGeom>
          <a:solidFill>
            <a:srgbClr val="1D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9312" y="27235"/>
            <a:ext cx="1194366" cy="133750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898989"/>
                </a:solidFill>
                <a:latin typeface="Calibri"/>
              </a:rPr>
              <a:t>02/05/2026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898989"/>
                </a:solidFill>
                <a:latin typeface="Calibri"/>
              </a:rPr>
              <a:t>FreshGuard: Freshness-Aware Adaptive RAG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898989"/>
                </a:solidFill>
                <a:latin typeface="Calibri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000" y="350000"/>
            <a:ext cx="100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0000"/>
                </a:solidFill>
                <a:latin typeface="Times New Roman"/>
              </a:rPr>
              <a:t xml:space="preserve">Methodology – Statement-Level Verification and Confidence</a:t>
            </a:r>
          </a:p>
        </p:txBody>
      </p:sp>
      <p:pic>
        <p:nvPicPr>
          <p:cNvPr id="9" name="Picture 8" descr="page18_fi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0000" y="2196648"/>
            <a:ext cx="4700000" cy="172690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50000" y="1400000"/>
            <a:ext cx="6100000" cy="4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>
                <a:solidFill>
                  <a:srgbClr val="000000"/>
                </a:solidFill>
                <a:latin typeface="Times New Roman"/>
              </a:rPr>
              <a:t xml:space="preserve">• Each answer is split into atomic statements; for every statement the maximum content overlap with any evidence sentence is computed and a label assigned: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000000"/>
                </a:solidFill>
                <a:latin typeface="Times New Roman"/>
              </a:rPr>
              <a:t xml:space="preserve">   – supported — the claim’s content is covered by the evidence;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000000"/>
                </a:solidFill>
                <a:latin typeface="Times New Roman"/>
              </a:rPr>
              <a:t xml:space="preserve">   – unsupported — largely absent, including when it names an entity the evidence never mentions;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000000"/>
                </a:solidFill>
                <a:latin typeface="Times New Roman"/>
              </a:rPr>
              <a:t xml:space="preserve">   – contradicted — a negation flip, a numeric mismatch, or an entity swap (e.g. “France won” against evidence that Argentina won, defeating France).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000000"/>
                </a:solidFill>
                <a:latin typeface="Times New Roman"/>
              </a:rPr>
              <a:t xml:space="preserve">• Corrective action: unsupported statements are removed and contradicted statements are flagged to the user — in-line.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000000"/>
                </a:solidFill>
                <a:latin typeface="Times New Roman"/>
              </a:rPr>
              <a:t xml:space="preserve">• Confidence fuses three signals: conf = 0.5·s_sup + 0.3·r̄ + 0.2·a_fresh (fraction supported, mean evidence relevance, freshness alignment), reported as a percentage.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000000"/>
                </a:solidFill>
                <a:latin typeface="Times New Roman"/>
              </a:rPr>
              <a:t xml:space="preserve">• The answer is shown with this confidence, a freshness indicator, per-claim support labels, and citations giving each source’s title, link, and date.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831" y="0"/>
            <a:ext cx="274320" cy="6876288"/>
          </a:xfrm>
          <a:prstGeom prst="rect">
            <a:avLst/>
          </a:prstGeom>
          <a:solidFill>
            <a:srgbClr val="1D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5400000">
            <a:off x="4945479" y="-4972257"/>
            <a:ext cx="274320" cy="10186749"/>
          </a:xfrm>
          <a:prstGeom prst="rect">
            <a:avLst/>
          </a:prstGeom>
          <a:solidFill>
            <a:srgbClr val="1D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9312" y="27235"/>
            <a:ext cx="1194366" cy="133750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898989"/>
                </a:solidFill>
                <a:latin typeface="Calibri"/>
              </a:rPr>
              <a:t>02/05/2026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898989"/>
                </a:solidFill>
                <a:latin typeface="Calibri"/>
              </a:rPr>
              <a:t>FreshGuard: Freshness-Aware Adaptive RAG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898989"/>
                </a:solidFill>
                <a:latin typeface="Calibri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000" y="350000"/>
            <a:ext cx="100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0000"/>
                </a:solidFill>
                <a:latin typeface="Times New Roman"/>
              </a:rPr>
              <a:t xml:space="preserve">Implementation – Technologies and Modules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0000" y="1400000"/>
            <a:ext cx="10900000" cy="4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000000"/>
                </a:solidFill>
                <a:latin typeface="Times New Roman"/>
              </a:rPr>
              <a:t xml:space="preserve">• Python — a FastAPI service exposing endpoints for querying, feedback, history, administrative configuration (thresholds, provider, sources), knowledge-base management (add / update / remove), and evaluation.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000000"/>
                </a:solidFill>
                <a:latin typeface="Times New Roman"/>
              </a:rPr>
              <a:t xml:space="preserve">• Retrieval: LangChain with a FAISS index; freshness estimator: scikit-learn; persistence: SQLite.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000000"/>
                </a:solidFill>
                <a:latin typeface="Times New Roman"/>
              </a:rPr>
              <a:t xml:space="preserve">• Browser client: a single-page application rendering the confidence meter, badges, highlighted per-statement verification, citations, history, and a feedback control.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000000"/>
                </a:solidFill>
                <a:latin typeface="Times New Roman"/>
              </a:rPr>
              <a:t xml:space="preserve">• Deterministic by design: fixed seeds, sorted tie-breaks, and an injectable reference time make outputs identical across runs — letting the automated suite act as a stable regression guard.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000000"/>
                </a:solidFill>
                <a:latin typeface="Times New Roman"/>
              </a:rPr>
              <a:t xml:space="preserve">• Pluggable LLM provider: an offline grounded generator by default; OpenAI or Anthropic adapters by configuration.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831" y="0"/>
            <a:ext cx="274320" cy="6876288"/>
          </a:xfrm>
          <a:prstGeom prst="rect">
            <a:avLst/>
          </a:prstGeom>
          <a:solidFill>
            <a:srgbClr val="1D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5400000">
            <a:off x="4945479" y="-4972257"/>
            <a:ext cx="274320" cy="10186749"/>
          </a:xfrm>
          <a:prstGeom prst="rect">
            <a:avLst/>
          </a:prstGeom>
          <a:solidFill>
            <a:srgbClr val="1D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9312" y="27235"/>
            <a:ext cx="1194366" cy="133750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898989"/>
                </a:solidFill>
                <a:latin typeface="Calibri"/>
              </a:rPr>
              <a:t>02/05/2026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898989"/>
                </a:solidFill>
                <a:latin typeface="Calibri"/>
              </a:rPr>
              <a:t>FreshGuard: Freshness-Aware Adaptive RAG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898989"/>
                </a:solidFill>
                <a:latin typeface="Calibri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000" y="350000"/>
            <a:ext cx="100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0000"/>
                </a:solidFill>
                <a:latin typeface="Times New Roman"/>
              </a:rPr>
              <a:t xml:space="preserve">Implementation – Web Application</a:t>
            </a:r>
          </a:p>
        </p:txBody>
      </p:sp>
      <p:pic>
        <p:nvPicPr>
          <p:cNvPr id="9" name="Picture 8" descr="page30_fi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5767" y="1115568"/>
            <a:ext cx="3680159" cy="31089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3504" y="4389120"/>
            <a:ext cx="1089964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>
                <a:solidFill>
                  <a:srgbClr val="000000"/>
                </a:solidFill>
                <a:latin typeface="Times New Roman"/>
              </a:rPr>
              <a:t xml:space="preserve">• Single-page interface: enter a query and receive a grounded answer with a confidence meter, freshness and retrieval badges, per-statement verification highlighting, and cited, dated sources.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000000"/>
                </a:solidFill>
                <a:latin typeface="Times New Roman"/>
              </a:rPr>
              <a:t xml:space="preserve">• Additional views: query history, a feedback control, and administrative configuration (thresholds, provider, knowledge-base sources).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000000"/>
                </a:solidFill>
                <a:latin typeface="Times New Roman"/>
              </a:rPr>
              <a:t xml:space="preserve">• Shown: a time-sensitive query answered with retrieval — confidence meter, freshness and retrieval badges, the grounded answer, per-statement verification, and cited sources with dates.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831" y="0"/>
            <a:ext cx="274320" cy="6876288"/>
          </a:xfrm>
          <a:prstGeom prst="rect">
            <a:avLst/>
          </a:prstGeom>
          <a:solidFill>
            <a:srgbClr val="1D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5400000">
            <a:off x="4945479" y="-4972257"/>
            <a:ext cx="274320" cy="10186749"/>
          </a:xfrm>
          <a:prstGeom prst="rect">
            <a:avLst/>
          </a:prstGeom>
          <a:solidFill>
            <a:srgbClr val="1D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9312" y="27235"/>
            <a:ext cx="1194366" cy="133750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898989"/>
                </a:solidFill>
                <a:latin typeface="Calibri"/>
              </a:rPr>
              <a:t>02/05/2026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898989"/>
                </a:solidFill>
                <a:latin typeface="Calibri"/>
              </a:rPr>
              <a:t>FreshGuard: Freshness-Aware Adaptive RAG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898989"/>
                </a:solidFill>
                <a:latin typeface="Calibri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000" y="350000"/>
            <a:ext cx="100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0000"/>
                </a:solidFill>
                <a:latin typeface="Times New Roman"/>
              </a:rPr>
              <a:t xml:space="preserve">Results – Protocol, Freshness and Factuality</a:t>
            </a:r>
          </a:p>
        </p:txBody>
      </p:sp>
      <p:pic>
        <p:nvPicPr>
          <p:cNvPr id="9" name="Picture 8" descr="page35_fi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0000" y="1844167"/>
            <a:ext cx="4900000" cy="2646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50000" y="1400000"/>
            <a:ext cx="6000000" cy="4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>
                <a:solidFill>
                  <a:srgbClr val="000000"/>
                </a:solidFill>
                <a:latin typeface="Times New Roman"/>
              </a:rPr>
              <a:t xml:space="preserve">• Controlled benchmark: twelve queries (six static, six time-sensitive), each with a gold retrieval label and gold answer keywords; plus eight statement/evidence pairs (four faithful, four hallucinated) spanning entity-swap and numeric-mismatch errors.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000000"/>
                </a:solidFill>
                <a:latin typeface="Times New Roman"/>
              </a:rPr>
              <a:t xml:space="preserve">• Metrics: freshness accuracy (retrieve/skip vs gold), factuality (gold fact present), hallucination precision / recall / F1, and expected calibration error (ECE).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000000"/>
                </a:solidFill>
                <a:latin typeface="Times New Roman"/>
              </a:rPr>
              <a:t xml:space="preserve">• Freshness / retrieval-decision accuracy = 1.00 — the estimator chooses the correct action on all twelve queries.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000000"/>
                </a:solidFill>
                <a:latin typeface="Times New Roman"/>
              </a:rPr>
              <a:t xml:space="preserve">• Factuality = 1.00 — every in-scope answer contains the gold fact.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000000"/>
                </a:solidFill>
                <a:latin typeface="Times New Roman"/>
              </a:rPr>
              <a:t xml:space="preserve">• The evaluation module is part of the system and is exposed as an API endpoint.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831" y="0"/>
            <a:ext cx="274320" cy="6876288"/>
          </a:xfrm>
          <a:prstGeom prst="rect">
            <a:avLst/>
          </a:prstGeom>
          <a:solidFill>
            <a:srgbClr val="1D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5400000">
            <a:off x="4945479" y="-4972257"/>
            <a:ext cx="274320" cy="10186749"/>
          </a:xfrm>
          <a:prstGeom prst="rect">
            <a:avLst/>
          </a:prstGeom>
          <a:solidFill>
            <a:srgbClr val="1D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9312" y="27235"/>
            <a:ext cx="1194366" cy="133750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898989"/>
                </a:solidFill>
                <a:latin typeface="Calibri"/>
              </a:rPr>
              <a:t>02/05/2026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898989"/>
                </a:solidFill>
                <a:latin typeface="Calibri"/>
              </a:rPr>
              <a:t>FreshGuard: Freshness-Aware Adaptive RAG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898989"/>
                </a:solidFill>
                <a:latin typeface="Calibri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000" y="350000"/>
            <a:ext cx="100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0000"/>
                </a:solidFill>
                <a:latin typeface="Times New Roman"/>
              </a:rPr>
              <a:t xml:space="preserve">Results – Hallucination Detection and Calibration</a:t>
            </a:r>
          </a:p>
        </p:txBody>
      </p:sp>
      <p:pic>
        <p:nvPicPr>
          <p:cNvPr id="9" name="Picture 8" descr="page36_fi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0000" y="1603811"/>
            <a:ext cx="4900000" cy="2646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50000" y="1400000"/>
            <a:ext cx="6000000" cy="4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>
                <a:solidFill>
                  <a:srgbClr val="000000"/>
                </a:solidFill>
                <a:latin typeface="Times New Roman"/>
              </a:rPr>
              <a:t xml:space="preserve">• Hallucination detection is perfect on the benchmark: precision = recall = F1 = 1.00.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000000"/>
                </a:solidFill>
                <a:latin typeface="Times New Roman"/>
              </a:rPr>
              <a:t xml:space="preserve">• All four hallucinations are caught — including both entity-swap cases — with no false positives.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000000"/>
                </a:solidFill>
                <a:latin typeface="Times New Roman"/>
              </a:rPr>
              <a:t xml:space="preserve">• The fused confidence score is reasonably calibrated: ECE = 0.10 and mean confidence = 0.90 against perfect in-scope accuracy.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000000"/>
                </a:solidFill>
                <a:latin typeface="Times New Roman"/>
              </a:rPr>
              <a:t xml:space="preserve">• The learned estimator separates static versus time-sensitive queries cleanly around the decision threshold τ = 0.55 (figure), confirming that a learned gate — not a heuristic — drives the retrieve/skip decision.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831" y="0"/>
            <a:ext cx="274320" cy="6876288"/>
          </a:xfrm>
          <a:prstGeom prst="rect">
            <a:avLst/>
          </a:prstGeom>
          <a:solidFill>
            <a:srgbClr val="1D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5400000">
            <a:off x="4945479" y="-4972257"/>
            <a:ext cx="274320" cy="10186749"/>
          </a:xfrm>
          <a:prstGeom prst="rect">
            <a:avLst/>
          </a:prstGeom>
          <a:solidFill>
            <a:srgbClr val="1D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9312" y="27235"/>
            <a:ext cx="1194366" cy="133750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898989"/>
                </a:solidFill>
                <a:latin typeface="Calibri"/>
              </a:rPr>
              <a:t>02/05/2026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898989"/>
                </a:solidFill>
                <a:latin typeface="Calibri"/>
              </a:rPr>
              <a:t>FreshGuard: Freshness-Aware Adaptive RAG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898989"/>
                </a:solidFill>
                <a:latin typeface="Calibri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000" y="350000"/>
            <a:ext cx="100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0000"/>
                </a:solidFill>
                <a:latin typeface="Times New Roman"/>
              </a:rPr>
              <a:t xml:space="preserve">Results – Cost of Adaptive Retrieval and Reproducibility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0000" y="1400000"/>
            <a:ext cx="10900000" cy="4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>
                <a:solidFill>
                  <a:srgbClr val="000000"/>
                </a:solidFill>
                <a:latin typeface="Times New Roman"/>
              </a:rPr>
              <a:t xml:space="preserve">• Because fresh queries skip retrieval, FreshGuard avoids retrieval and ranking work on a large class of questions.</a:t>
            </a:r>
          </a:p>
          <a:p>
            <a:pPr algn="l">
              <a:spcAft>
                <a:spcPts val="800"/>
              </a:spcAft>
            </a:pPr>
            <a:r>
              <a:rPr sz="1700">
                <a:solidFill>
                  <a:srgbClr val="000000"/>
                </a:solidFill>
                <a:latin typeface="Times New Roman"/>
              </a:rPr>
              <a:t xml:space="preserve">• Mean per-query latency: answering a fresh query directly is cheaper than forcing retrieval on it — even with the instant offline generator.</a:t>
            </a:r>
          </a:p>
          <a:p>
            <a:pPr algn="l">
              <a:spcAft>
                <a:spcPts val="800"/>
              </a:spcAft>
            </a:pPr>
            <a:r>
              <a:rPr sz="1700">
                <a:solidFill>
                  <a:srgbClr val="000000"/>
                </a:solidFill>
                <a:latin typeface="Times New Roman"/>
              </a:rPr>
              <a:t xml:space="preserve">• The gap widens with any real retriever or hosted LLM, where a skipped query avoids a network round-trip, re-ranking, and longer grounded generation.</a:t>
            </a:r>
          </a:p>
          <a:p>
            <a:pPr algn="l">
              <a:spcAft>
                <a:spcPts val="800"/>
              </a:spcAft>
            </a:pPr>
            <a:r>
              <a:rPr sz="1700">
                <a:solidFill>
                  <a:srgbClr val="000000"/>
                </a:solidFill>
                <a:latin typeface="Times New Roman"/>
              </a:rPr>
              <a:t xml:space="preserve">• Reproducibility: the complete automated suite — 41 unit, end-to-end, API, and evaluation tests — passed on twelve consecutive executions with identical outputs.</a:t>
            </a:r>
          </a:p>
          <a:p>
            <a:pPr algn="l">
              <a:spcAft>
                <a:spcPts val="800"/>
              </a:spcAft>
            </a:pPr>
            <a:r>
              <a:rPr sz="1700">
                <a:solidFill>
                  <a:srgbClr val="000000"/>
                </a:solidFill>
                <a:latin typeface="Times New Roman"/>
              </a:rPr>
              <a:t xml:space="preserve">• Determinism lets the suite act as a regression guard and reproduces every number reported in this work.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831" y="0"/>
            <a:ext cx="274320" cy="6876288"/>
          </a:xfrm>
          <a:prstGeom prst="rect">
            <a:avLst/>
          </a:prstGeom>
          <a:solidFill>
            <a:srgbClr val="1D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5400000">
            <a:off x="4945479" y="-4972257"/>
            <a:ext cx="274320" cy="10186749"/>
          </a:xfrm>
          <a:prstGeom prst="rect">
            <a:avLst/>
          </a:prstGeom>
          <a:solidFill>
            <a:srgbClr val="1D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9312" y="27235"/>
            <a:ext cx="1194366" cy="133750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898989"/>
                </a:solidFill>
                <a:latin typeface="Calibri"/>
              </a:rPr>
              <a:t>02/05/2026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898989"/>
                </a:solidFill>
                <a:latin typeface="Calibri"/>
              </a:rPr>
              <a:t>FreshGuard: Freshness-Aware Adaptive RAG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898989"/>
                </a:solidFill>
                <a:latin typeface="Calibri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000" y="350000"/>
            <a:ext cx="100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0000"/>
                </a:solidFill>
                <a:latin typeface="Times New Roman"/>
              </a:rPr>
              <a:t xml:space="preserve">Discussion – Limitations and Responsible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0000" y="1400000"/>
            <a:ext cx="10900000" cy="4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>
                <a:solidFill>
                  <a:srgbClr val="000000"/>
                </a:solidFill>
                <a:latin typeface="Times New Roman"/>
              </a:rPr>
              <a:t xml:space="preserve">• Small, controlled benchmark: the scores exercise the mechanism and show correct end-to-end behaviour, not state-of-the-art accuracy.</a:t>
            </a:r>
          </a:p>
          <a:p>
            <a:pPr algn="l">
              <a:spcAft>
                <a:spcPts val="800"/>
              </a:spcAft>
            </a:pPr>
            <a:r>
              <a:rPr sz="1700">
                <a:solidFill>
                  <a:srgbClr val="000000"/>
                </a:solidFill>
                <a:latin typeface="Times New Roman"/>
              </a:rPr>
              <a:t xml:space="preserve">• The default offline generator and TF–IDF embeddings keep the system deterministic and dependency-light; a production deployment would substitute a hosted LLM and a dense encoder through the existing seams.</a:t>
            </a:r>
          </a:p>
          <a:p>
            <a:pPr algn="l">
              <a:spcAft>
                <a:spcPts val="800"/>
              </a:spcAft>
            </a:pPr>
            <a:r>
              <a:rPr sz="1700">
                <a:solidFill>
                  <a:srgbClr val="000000"/>
                </a:solidFill>
                <a:latin typeface="Times New Roman"/>
              </a:rPr>
              <a:t xml:space="preserve">• Bag-of-words verification cannot resolve every semantic contradiction — the entity-swap and numeric-mismatch rules target the most common and damaging patterns; an NLI model could drop in behind the same interface.</a:t>
            </a:r>
          </a:p>
          <a:p>
            <a:pPr algn="l">
              <a:spcAft>
                <a:spcPts val="800"/>
              </a:spcAft>
            </a:pPr>
            <a:r>
              <a:rPr sz="1700">
                <a:solidFill>
                  <a:srgbClr val="000000"/>
                </a:solidFill>
                <a:latin typeface="Times New Roman"/>
              </a:rPr>
              <a:t xml:space="preserve">• The freshness estimator is trained on synthesised templates; broadening it with real query logs such as FreshQA is future work.</a:t>
            </a:r>
          </a:p>
          <a:p>
            <a:pPr algn="l">
              <a:spcAft>
                <a:spcPts val="800"/>
              </a:spcAft>
            </a:pPr>
            <a:r>
              <a:rPr sz="1700">
                <a:solidFill>
                  <a:srgbClr val="000000"/>
                </a:solidFill>
                <a:latin typeface="Times New Roman"/>
              </a:rPr>
              <a:t xml:space="preserve">• Responsible AI: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000000"/>
                </a:solidFill>
                <a:latin typeface="Times New Roman"/>
              </a:rPr>
              <a:t xml:space="preserve">   – Every answer carries a confidence score, a freshness badge, per-claim labels, and cited, dated sources — judgement stays with a reader who can check the source.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000000"/>
                </a:solidFill>
                <a:latin typeface="Times New Roman"/>
              </a:rPr>
              <a:t xml:space="preserve">   – Offline and deterministic by default; no data leaves the machine unless a hosted provider is explicitly configured.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000000"/>
                </a:solidFill>
                <a:latin typeface="Times New Roman"/>
              </a:rPr>
              <a:t xml:space="preserve">   – Failures and limits are reported alongside successes.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831" y="0"/>
            <a:ext cx="274320" cy="6876288"/>
          </a:xfrm>
          <a:prstGeom prst="rect">
            <a:avLst/>
          </a:prstGeom>
          <a:solidFill>
            <a:srgbClr val="1D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5400000">
            <a:off x="4945479" y="-4972257"/>
            <a:ext cx="274320" cy="10186749"/>
          </a:xfrm>
          <a:prstGeom prst="rect">
            <a:avLst/>
          </a:prstGeom>
          <a:solidFill>
            <a:srgbClr val="1D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9312" y="27235"/>
            <a:ext cx="1194366" cy="133750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898989"/>
                </a:solidFill>
                <a:latin typeface="Calibri"/>
              </a:rPr>
              <a:t>02/05/2026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898989"/>
                </a:solidFill>
                <a:latin typeface="Calibri"/>
              </a:rPr>
              <a:t>FreshGuard: Freshness-Aware Adaptive RAG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898989"/>
                </a:solidFill>
                <a:latin typeface="Calibri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000" y="350000"/>
            <a:ext cx="100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0000"/>
                </a:solidFill>
                <a:latin typeface="Times New Roman"/>
              </a:rPr>
              <a:t xml:space="preserve">Conclusion and Future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0000" y="1400000"/>
            <a:ext cx="10900000" cy="4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>
                <a:solidFill>
                  <a:srgbClr val="000000"/>
                </a:solidFill>
                <a:latin typeface="Times New Roman"/>
              </a:rPr>
              <a:t xml:space="preserve">• Two learned gates — a freshness gate that decides when to retrieve and a verification gate that checks every claim — turn a standard RAG pipeline into one that is both efficient and trustworthy.</a:t>
            </a:r>
          </a:p>
          <a:p>
            <a:pPr algn="l">
              <a:spcAft>
                <a:spcPts val="800"/>
              </a:spcAft>
            </a:pPr>
            <a:r>
              <a:rPr sz="1700">
                <a:solidFill>
                  <a:srgbClr val="000000"/>
                </a:solidFill>
                <a:latin typeface="Times New Roman"/>
              </a:rPr>
              <a:t xml:space="preserve">• FreshGuard retrieves only when the model’s knowledge is likely stale, grounds and verifies its answers, corrects or flags hallucinations, and presents a calibrated, cited result.</a:t>
            </a:r>
          </a:p>
          <a:p>
            <a:pPr algn="l">
              <a:spcAft>
                <a:spcPts val="800"/>
              </a:spcAft>
            </a:pPr>
            <a:r>
              <a:rPr sz="1700">
                <a:solidFill>
                  <a:srgbClr val="000000"/>
                </a:solidFill>
                <a:latin typeface="Times New Roman"/>
              </a:rPr>
              <a:t xml:space="preserve">• On the controlled benchmark: 100% retrieval-decision accuracy, perfect in-scope factuality, F1 = 1.00 for hallucination detection, and ECE = 0.10; fully reproducible across twelve runs.</a:t>
            </a:r>
          </a:p>
          <a:p>
            <a:pPr algn="l">
              <a:spcAft>
                <a:spcPts val="800"/>
              </a:spcAft>
            </a:pPr>
            <a:r>
              <a:rPr sz="1700">
                <a:solidFill>
                  <a:srgbClr val="000000"/>
                </a:solidFill>
                <a:latin typeface="Times New Roman"/>
              </a:rPr>
              <a:t xml:space="preserve">• Future work: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000000"/>
                </a:solidFill>
                <a:latin typeface="Times New Roman"/>
              </a:rPr>
              <a:t xml:space="preserve">   – Broaden the freshness estimator with real query logs (FreshQA) and richer temporal features.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000000"/>
                </a:solidFill>
                <a:latin typeface="Times New Roman"/>
              </a:rPr>
              <a:t xml:space="preserve">   – Swap in a dense encoder and a hosted LLM through the existing provider and embedding seams.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000000"/>
                </a:solidFill>
                <a:latin typeface="Times New Roman"/>
              </a:rPr>
              <a:t xml:space="preserve">   – Replace bag-of-words verification with a natural-language-inference model behind the same interface.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000000"/>
                </a:solidFill>
                <a:latin typeface="Times New Roman"/>
              </a:rPr>
              <a:t xml:space="preserve">   – Larger-scale evaluation and principled calibration of the freshness and confidence thresholds.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831" y="0"/>
            <a:ext cx="274320" cy="6876288"/>
          </a:xfrm>
          <a:prstGeom prst="rect">
            <a:avLst/>
          </a:prstGeom>
          <a:solidFill>
            <a:srgbClr val="1D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5400000">
            <a:off x="4945479" y="-4972257"/>
            <a:ext cx="274320" cy="10186749"/>
          </a:xfrm>
          <a:prstGeom prst="rect">
            <a:avLst/>
          </a:prstGeom>
          <a:solidFill>
            <a:srgbClr val="1D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9312" y="27235"/>
            <a:ext cx="1194366" cy="133750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898989"/>
                </a:solidFill>
                <a:latin typeface="Calibri"/>
              </a:rPr>
              <a:t>02/05/2026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898989"/>
                </a:solidFill>
                <a:latin typeface="Calibri"/>
              </a:rPr>
              <a:t>FreshGuard: Freshness-Aware Adaptive RAG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898989"/>
                </a:solidFill>
                <a:latin typeface="Calibri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000" y="350000"/>
            <a:ext cx="100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0000"/>
                </a:solidFill>
                <a:latin typeface="Times New Roman"/>
              </a:rPr>
              <a:t>References (IEEE Format)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0000" y="1400000"/>
            <a:ext cx="10900000" cy="4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>
                <a:solidFill>
                  <a:srgbClr val="000000"/>
                </a:solidFill>
                <a:latin typeface="Times New Roman"/>
              </a:rPr>
              <a:t xml:space="preserve">[11] S. Min et al., “FACTSCORE: Fine-grained atomic evaluation of factual precision in long-form text generation”, Proc. EMNLP, pp. 12076–12100, 2023.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000000"/>
                </a:solidFill>
                <a:latin typeface="Times New Roman"/>
              </a:rPr>
              <a:t xml:space="preserve">[12] C. Guo, G. Pleiss, Y. Sun and K. Q. Weinberger, “On calibration of modern neural networks”, Proc. ICML, pp. 1321–1330, 2017.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000000"/>
                </a:solidFill>
                <a:latin typeface="Times New Roman"/>
              </a:rPr>
              <a:t xml:space="preserve">[13] S. Robertson and H. Zaragoza, “The probabilistic relevance framework: BM25 and beyond”, Foundations and Trends in Information Retrieval, vol. 3, no. 4, pp. 333–389, 2009.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000000"/>
                </a:solidFill>
                <a:latin typeface="Times New Roman"/>
              </a:rPr>
              <a:t xml:space="preserve">[14] F. Pedregosa et al., “Scikit-learn: Machine learning in Python”, Journal of Machine Learning Research, vol. 12, pp. 2825–2830, 2011.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000000"/>
                </a:solidFill>
                <a:latin typeface="Times New Roman"/>
              </a:rPr>
              <a:t xml:space="preserve">[15] H. Chase, “LangChain: Building applications with LLMs through composability”, 2022. [Online]. Available: https://github.com/langchain-ai/langchain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423</TotalTime>
  <Words>212</Words>
  <Application>Microsoft Office PowerPoint</Application>
  <PresentationFormat>Widescreen</PresentationFormat>
  <Paragraphs>55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padakanti dilip</dc:creator>
  <cp:lastModifiedBy>Kiruthiga Rajendran</cp:lastModifiedBy>
  <cp:revision>10</cp:revision>
  <dcterms:created xsi:type="dcterms:W3CDTF">2025-08-28T08:39:55Z</dcterms:created>
  <dcterms:modified xsi:type="dcterms:W3CDTF">2026-04-29T07:57:16Z</dcterms:modified>
</cp:coreProperties>
</file>